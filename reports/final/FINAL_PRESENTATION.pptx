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1. Bayesian Regime Detection Engine: Problem &amp; Objective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Institutional Platform Architecture, Probabilistic Calibration &amp; Audit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Organization: Zetheta Algorithms Private Limited (CIN: U62012MH2023PTC410415).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Target Canonical Environment: Python 3.10 | Host Platform: macOS ARM64 / Linux x86_64.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The Problem: Financial price series have signal-to-noise ratio &lt; 0.05; point forecasting fails out-of-sample.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The Objective: Predict probability distributions over 5 macroeconomic regimes for tactical equity allocation.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2. The Direction-Over-Price Thesis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Why Point Return Predictions Fail in Quantitative Asset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Martingale Diffusion: E[R_{t+1}|F_t] = mu_t &lt;&lt; sigma_t; expected return is dwarfed by daily volatility.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Asymmetric Fat Tails: NIFTY 50 exhibits kurtosis of 19.04 and skewness of -0.68, refuting Gaussian assumptions.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False Precision: Point forecasts assert misleading certainty, causing aggressive turnover and friction losses.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Paradigm Shift: Predict conditional regime probabilities P(S_t = k | X_t) on the unit simplex Delta^5.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3. The Canonical Five-Regime Framework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Empirical Macro Dynamics Across Indian Equities &amp; Target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Canonical Ontology: Risk-On (Bull Quiet), Late-Cycle (Bull Volatile), Transitional, Post-Shock, Risk-Off (Bear Panic).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Evaluation Proxy: 5-day forward NIFTY return and realized volatility against training median threshold.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Non-Circular Rule: Forward target is an objective outcome proxy, not an unobserved daily latent ground truth.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RPS Monotonic Ordering: [Risk-On] &lt; [Late-Cycle] &lt; [Post-Shock] &lt; [Transitional] &lt; [Risk-Off] based on return/risk severity.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4. Data Universe &amp; Point-in-Time Architecture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15 Years of Indian Equity History (2009–2024) with Zero Lookahead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Data Scale: 35,766 OHLCV bars across 3,949 trading days covering NIFTY 50, Midcap 50, Bank, IT, VIX, USD/INR.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Point-in-Time Guards: Strict lag enforcement ensuring feature calculation uses strictly backward information.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Cryptographic Hashes: Market data SHA-256 (c6c46ed7...) and Feature store SHA-256 (61969b7b...).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Quarantine Policy: Macro regulatory portals (RBI, SEBI, AMFI) quarantined under zero synthetic data rule.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5. Feature Store: Technical, Topological &amp; Graph Features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30 Point-in-Time Engineered Features Across Three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Technical (16): Momentum returns (1d, 5d, 21d), EWMA volatility (lambda=0.94), Parkinson vol, moving average trend distances.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Topological Data Analysis (5): Vietoris-Rips persistent homology (H0/H1 persistence entropy, Wasserstein amplitude).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Dynamic Graph Neural Network (9): Rolling sector correlation Laplacian, Fiedler algebraic connectivity (lambda_2).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Stationarity Audit: 28 of 30 features stationary at p &lt; 0.001 (ADF test); Multicollinearity controlled via VIF &lt; 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6. Sticky Dirichlet Bayesian HMM &amp; PyMC NUTS Sampler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Preventing Artificial Regime Whipsaws via Informative Priors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Sticky Prior: Self-transition concentration A_{j,j} ~ Dir(alpha_0 + kappa) with kappa = 8.0.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FFBS MCMC: 2 chains, 120 iterations, 40 burn-in via Forward-Filtering Backward-Sampling (R-hat &lt; 1.05, ESS &gt; 70).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PyMC NUTS Specification Run: 4 chains, 2,000 draws, 1,000 tune, target_accept=0.90 executed locally.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NUTS Diagnostics: Max R-hat = 1.0023, Bulk ESS = 2,875.4, Tail ESS = 2,476.8, Divergent transitions = 0 (0.00%).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7. Markov-Switching VAR &amp; Dynamic Cross-Asset Feedback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Capturing Endogenous Regime Transmission &amp; Duration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RS-VAR(1) Model: Y_t = nu(S_t) + Phi(S_t)*Y_{t-1} + e_t for returns, VIX changes, and breadth momentum.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Filtering &amp; Smoothing: Hamilton (1989) forward filter and Kim (1994) full-sample backward smoother (Log-Lik: 44,816.43).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Weibull Duration Hazard: Risk-Off duration exhibits negative duration dependence (Weibull alpha = 0.68).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Memoryless Null Rejected: Geometric dwell-time hypothesis rejected for crisis states (p = 0.0098).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8. Bayesian Deep Learning &amp; Epistemic Uncertainty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Disentangling Model Ignorance from Inherent Market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Variational BNN: Bayes by Backprop in PyTorch with Gaussian weights w ~ N(mu, softplus(rho)), ELBO loss.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Deep Ensemble: M=3 independently initialized neural networks with mini-batch shuffling strictly within training window.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Monte Carlo Dropout: Preserves dropout (p=0.20) across 50 stochastic forward passes at inference time.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Uncertainty Budget: Epistemic entropy (mutual information) isolates model ignorance to trigger defensive scaling.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9. Foundation Models in Macro Regime Detection: Empirical Limits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Zero-Shot Probing of Amazon Chronos T5 &amp; Google TimesFM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Tested Models: Amazon Chronos T5-small (context L=64) and Google TimesFM-1.0-200m (patch length 16).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Representation Probing: Linear probing classifiers trained on causal temporal embeddings to predict 5 regimes.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Empirical Finding: Probing accuracy is 23.77% (near 20% random baseline) with negative silhouette score (-0.0089).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Key Insight: Generic foundation models pretrained on non-financial series fail to capture macro financial covariance.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10. Simplex Stacking Ensemble &amp; Benchmark Tournament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Out-of-Sample Holdout (2022–2024, 738 Days) Proper-Score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Simplex Stacking: SLSQP optimization on Delta^M assigns 90.9% to Deep Ensemble and 9.1% to Bayesian HMM (Gibbs).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Log Loss Champion: Deep Ensemble (1.2847) beats Climatology (1.3097) and Persistence (1.9083, +32.68% skill).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Variational BNN: Achieves out-of-sample Log Loss of 1.3008 and RPS of 0.2033 (+31.84% skill vs Persistence).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RPS Dichotomy: Persistence achieves low RPS (0.1577) due to adjacent CDF mass; all models have negative RPS skill.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11. Temperature Calibration &amp; Adaptive Conformal Inference (ACI)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Finite-Sample Distribution-Free Coverage Guarantees Under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Temperature Scaling: Optimal T = 1.0839 collapses Expected Calibration Error (ECE) from 0.0350 to 0.0014 (96.1% drop).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Conformal Guarantee: P(Y_{t+1} in C_{t+1}) &gt;= 1 - alpha without parametric distributional assumptions.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Audited Empirical Coverage: 91.33% realized holdout coverage (target 90.0%, gap +1.33%) with mean set size 3.06.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Prudent Ambiguity: Single-regime calls drop to 0% during macro transitions, spanning multi-regime risk 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12. Two-Speed Real-Time Production Architecture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High-Throughput Serving via FastAPI &amp; Bootstrap Particle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Slow Engine: Nightly batch MCMC, PyMC sampling, temperature re-fitting, and drift monitoring.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Fast Engine: 1,000-particle Bootstrap Particle Filter (BPF) processing intraday market updates in &lt; 2 ms.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Bayesian Online Changepoint Detection (BOCPD): Run-length hazard tracking (lambda=100.0) for rapid jump alerts.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Reconciliation Safety Gate: D_KL(P_online || P_batch) &gt; 0.25 triggers automatic model risk alarm and set expansion.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13. Explainability (Permutation SHAP) &amp; Cryptographic Lineage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Human-Interpretable Intelligence Aligned with SR 11-7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Permutation SHAP: Real-time marginal feature attributions identifying top regime drivers (volatility, breadth, TDA).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Deterministic Narrative: Natural language brief synthesis without LLM hallucination for Investment Committees.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SR 11-7 Lifecycle: Candidate -&gt; Validation -&gt; Challenger -&gt; Promoted Champion -&gt; Retired state machine.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Audit Replay: Immutable cryptographic replay linking every decision to data and feature store SHA-256 hashes.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14. Risk Modeling: Monte Carlo &amp; Conviction-Aware Allocation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Mapping Posterior Regimes to Dynamic Equity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Student-t Monte Carlo: 10,000-path 21-day forward simulation conditioned on posterior regime probabilities.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Risk Budgeting: 99% 21-day Value at Risk (VaR) is -7.8%; 99% Conditional VaR (CVaR) is -9.8%.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Conviction Overlay: Dynamic equity allocation bounded in [20%, 100%] scaled by confidence 1 - H(p)/ln(5).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Turnover Hysteresis: 4.0% no-trade deadband and 10.0% daily turnover cap prevent whipsaw execution drag.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15. Historical Case Studies &amp; Crisis Attributions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Preserving Institutional Capital During Indian Liquidity Shocks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2013 Taper Tantrum: USD/INR 3-sigma spike triggered early de-risking, avoiding violent currency-driven drawdown.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2018 IL&amp;FS Shock: TDA H1 persistence entropy spiked and sector connectivity collapsed 14 days before equity breakdown.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2020 COVID Crash: Strategy drawdown limited to -23.82% vs Benchmark -38.44% (+14.62% capital saved, +12.96% alpha).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2024 Election Shock: MC Dropout flagged 65.2% epistemic entropy; ACI expanded set to 4 regimes, preventing bottom liquidation.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16. Walk-Forward Backtest &amp; Honest Failure Analysis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Strict 2019–2024 Execution Net of 15 bps Friction (1,480 Days)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Net Performance: CAGR 12.67%, Volatility 12.83% (vs NIFTY 50 18.32%, 29.9% vol reduction), Sharpe 0.49 vs 0.44.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Overfitting Controls: Exactly 15 parameter configurations tried; DSR = 0.112; Single-asset PBO = 0.34 (marked PARTIAL).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Conviction Tiers: High conviction (&gt;70%) CAGR 14.82% (Sharpe 0.74) vs Low conviction (&lt;50%) CAGR 6.14% (Sharpe -0.02).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Honest Failure Modes: Discontinuous overnight gap openings and protracted range-bound trendless consolidation.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17. The RegimeLab Product Platform &amp; Regime Arena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Production Interface &amp; Gamified Quantitative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Streamlit Dashboard (8 Pages): Live Monitor, SHAP Explainer, Model Lab, Replay, Risk &amp; Allocation, Governance.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Regime Arena: Interactive trading simulator allowing analysts to allocate capital under historical point-in-time constraints.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Human vs Engine: Real-time benchmarking comparing human emotional trading against Bayesian conviction overlay.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API Service: Production FastAPI service with verified endpoints (GET /regime/health, POST /regime/score).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52F"/>
                </a:solidFill>
                <a:latin typeface="Arial"/>
              </a:defRPr>
            </a:pPr>
            <a:r>
              <a:t>18. Conclusion, Forensic Gaps Attestation &amp; Roadmap</a:t>
            </a:r>
          </a:p>
          <a:p>
            <a:pPr>
              <a:defRPr sz="1300">
                <a:solidFill>
                  <a:srgbClr val="2980B9"/>
                </a:solidFill>
                <a:latin typeface="Arial"/>
              </a:defRPr>
            </a:pPr>
            <a:r>
              <a:t>94.44% Audited Completion &amp; Strategic Institutional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Audited Completion: 34 of 36 requirements empirically verified (94.44%); 72/72 unit and statistical tests passing.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Quarantined Blockers: Regulatory macro feeds (BLOCKED BY DATA) and dual-language R host runtime (BLOCKED BY ENVIRONMENT).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R Codebase Ready: Complete depmixS4, MSwM, rstanarm/Stan, changepoint, and conformal scripts with renv.lock &amp; Docker.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•  Sign-Off: Zetheta Algorithms Private Limited | CIN: U62012MH2023PTC410415 | Production Reference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/>
              </a:defRPr>
            </a:pPr>
            <a:r>
              <a:t>Zetheta Algorithms Private Limited | CIN: U62012MH2023PTC410415 | Strictly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