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Bayesian Regime Detection Engine for Equity Direction Forecasting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Institutional Platform Architecture, Probabilistic Calibration &amp; Audit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Organization: Zetheta Algorithms Private Limited (CIN: U62012MH2023PTC410415)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Target Environment: Python 3.10 | Host Runtime: macOS ARM64 / Linux x86_64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Release Version: v1.0.0-institutional | Verification Suite: 70/70 Tests Passing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Executive Objective: Non-stationary macro regime detection &amp; conviction-scaled asset allocation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1. The Quantitative Problem: Fallacy of Price Forecasting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Why Point Return Predictions Fail in Asset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Low Signal-to-Noise Ratio (SNR &lt; 0.05) leads to severe out-of-sample regression collapse.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Point forecasts assert false precision, ignoring the width and shape of the return distribution.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Asymmetric Fat Tails: NIFTY 50 returns exhibit excess kurtosis of 19.04, refuting Gaussian models.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Paradigm Shift: Predict conditional distribution parameters P(R_t | S_t = k) rather than price levels.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2. Indian Market Characteristics &amp; The 5-Regime Ontology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Empirical Macro Dynamics Across NSE Equities (2009–2024)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Risk-On (Bull Quiet): Broad market participation, compressed INDIA VIX (&lt; 15), positive breadth spread.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Late-Cycle (Bull Volatile): Narrowing leadership, large-cap divergence, rising leverage and froth.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Transitional (Sideways): Range-bound distribution, high predictive entropy, macro uncertainty.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Risk-Off (Bear Volatile): Synchronized liquidity freeze, spiking VIX (&gt; 28), capital destruction.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Post-Shock (Recovery): Oversold mean-reversion, institutional short-covering, policy intervention.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3. Platform Architecture: 14 Coherent Institutional Layers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Moving from Disconnected Notebooks to a Production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1-3: Market Data Ingestion, Point-in-Time Feature Store, Stationarity &amp; Selection Filters.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4-6: Model Lab (7 Models), Bayesian Inference Engine, Foundation Model Representation Probes.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7-9: Constrained Stacking Ensemble, Temperature Calibration, Adaptive Conformal Inference (ACI).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Layers 10-14: Two-Speed Production Service, Risk Engine, Allocation Overlay, Governance, Regime Arena.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4. Feature Store: Technical, Topological &amp; Graph Features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Point-in-Time Cryptographic Lineage with Zero Lookahead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Technical Features: 16 momentum, EWMA volatility, Parkinson volatility, and breadth spread indicators.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Topological Data Analysis (TDA): Vietoris-Rips persistent homology (H0, H1 entropy and Wasserstein amplitude).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Dynamic Graph Neural Network (GNN): Sector correlation graph, algebraic connectivity, Fiedler value.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Stationarity: 28/30 features stationary at p &lt; 0.001 (ADF test); Multicollinearity controlled via VIF &lt; 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5. Bayesian Model Lab: Diversity Across 7 Paradigms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Orthogonal Inductive Biases Maximizing Ensemble Resilience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1. Frequentist HMM: Gaussian emissions with Baum-Welch EM optimization (hmmlearn).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2. Bayesian HMM (Gibbs): Sticky Dirichlet prior (kappa=8.0) with FFBS MCMC (R-hat &lt; 1.05).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3. Bayesian HMM (PyMC NUTS): Fully differentiable MCMC with Dirichlet transition priors.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4. RS-VAR(1): State-dependent vector autoregression via Hamilton filter and Kim smoother.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5. Neural &amp; Foundation Models: Variational BNN, Deep Ensemble, MC Dropout, Chronos, TimesFM.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6. Sticky Dirichlet Bayesian HMM &amp; MCMC Sampling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Preventing Artificial Regime Whipsaws via Informative Priors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Prior Formulation: Diagonal concentration A_{j,j} ~ Dir(alpha_0 + kappa) with kappa = 8.0.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Posterior Sampling: 2 chains, 120 iterations, 40 burn-in via Forward-Filtering Backward-Sampling.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Convergence Diagnostics: Gelman-Rubin R-hat &lt; 1.05 across all transition parameters; ESS &gt; 70.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Duration Analysis: Risk-Off regime rejects geometric memory (p = 0.0098, Weibull k = 1.12).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7. Bayesian Deep Learning: Variational BNN &amp; Ensembles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Disentangling Epistemic Model Ignorance from Aleatoric Noise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Variational BNN: Bayes by Backprop in PyTorch with Gaussian weights w ~ N(mu, softplus(rho)).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ELBO Optimization: Analytical KL divergence against isotropic Gaussian prior + Cross-Entropy NLL.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Deep Ensemble: M=3 independently initialized networks with bootstrap data shuffling.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Uncertainty Budget: Epistemic entropy (mutual information) separates model error from market noise.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8. Time-Series Foundation Models: Chronos &amp; TimesFM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Strict Out-of-Sample Empirical Evaluation of Temporal Representations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Amazon Chronos T5: Causal self-attention tokenization and zero-shot latent projection.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Google TimesFM: Patch-based temporal transformer tokenization (patch length 16).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Empirical Finding: Zero-shot foundation model probe accuracy is 23.77% with negative silhouette (-0.0089).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Conclusion: Off-the-shelf foundation models fail to separate financial market regimes without domain tuning.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9. Information Criteria: WAIC &amp; PSIS-LOO Diagnostics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Formal Out-of-Sample Density Assessment via ArviZ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Watanabe-Akaike Information Criterion (WAIC): Computed from MCMC pointwise log-likelihood draws.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PSIS-LOO Cross-Validation: Pareto-smoothed importance sampling LOO (elpd_loo = -28,412.4, SE = 142.1).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Pareto-k Diagnostic: 98.2% of observations have k &lt;= 0.5; 0.0% exceed 0.7, confirming stable posteriors.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Mathematical Rigor: Zero reliance on naive AIC/BIC asymptotic approximations for Bayesian models.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10. Constrained Simplex Stacking &amp; Temperature Scaling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Optimizing Ensemble Weights on Untouched Calibration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Simplex Stacking: SLSQP optimization on Delta^6 to minimize out-of-sample cross-entropy on 2019-2021.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Optimal Weights: Deep Ensemble (90.9%), Bayesian HMM (9.1%), zero weight to uncalibrated probes.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Temperature Scaling: Optimizes post-hoc temperature T = 1.0839 via negative log-likelihood minimization.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Calibration Gain: Expected Calibration Error (ECE) compressed significantly, restoring sharp probabilities.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11. Adaptive Conformal Inference (ACI): Distribution-Free Sets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Finite-Sample Coverage Guarantees Under Non-Stationary Shift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Conformal Guarantee: P(Y_{t+1} in C_{t+1}) &gt;= 1 - alpha without parametric distribution assumptions.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Online Adaptation: Step-size gamma = 0.015 dynamically widens sets during macro volatility bursts.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Audited Empirical Coverage: 91.33% realized coverage on 2022-2024 holdout against nominal 90.0% target.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Mean Set Size: 3.06 regimes; transparently spans multiple states during periods of genuine macro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12. Forensic Benchmark Tournament on Out-of-Sample Holdout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Untouched 2022–2024 Test Split (738 Trading Days) — Proper Score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Log Loss: Deep Ensemble (1.2847) &amp; Variational BNN (1.3008) beat Climatology (1.3097) and Persistence (1.9083).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Skill vs Persistence: Deep Ensemble achieves +32.68% skill under Log Loss (proper scoring champion).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RPS Dichotomy: Persistence achieves low RPS (0.1577) due to adjacent CDF mass; all models have negative RPS skill.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Stacking Ensemble: Simplex weights assign 90.9% to Deep Ensemble and 9.1% to Bayesian HMM (Gibbs).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13. Conviction-Aware Allocation &amp; Walk-Forward Backtest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Strict Out-of-Sample Execution (2019–2024, 1,480 Trading Days)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Dynamic Tilt: Equity allocation scales between 20% and 100% conditioned on regime probability &amp; conviction.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Turnover Controls: 4.0% no-trade hysteresis band and 10.0% daily turnover cap prevent whipsaw costs.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Net Performance (15 bps friction): CAGR 12.67%, Volatility 12.83% (vs NIFTY 50 Benchmark 19.80%).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Sharpe Ratio: 0.49 vs Benchmark 0.35 (+40.0% risk-adjusted outperformance).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14. Tail-Risk Management &amp; Crisis Protection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Preserving Capital During Systemic Indian Market Crises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Max Drawdown: -23.82% for RegimeLab vs -38.44% for NIFTY 50 Benchmark (+14.62% capital saved).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COVID Crash Alpha (Q1 2020): +12.96% outperformance (Strategy -11.61% vs Benchmark -24.57%).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IL&amp;FS Credit Shock (2018): Early de-risking triggered by midcap breadth decoupling and VIX elevation.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Deflated Sharpe Ratio (DSR): 0.112 (audited across 15 trials without artificial data inflation).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15. Explainability: Permutation SHAP &amp; Dynamic Narrative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Auditable Feature Attributions and Hallucination-Free Explanations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Permutation SHAP: Real-time marginal contribution scores across all 30 engineered features.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Natural Language Synthesis: Deterministic rule-based template generating financial committee narratives.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Sample Output: 'Risk-On probability stands at 72.4% driven by: (1) positive return momentum, (2) low VIX.'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Zero LLM Hallucination: Explanations are strictly bound to computed feature values and model outputs.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16. Model Governance (SR 11-7) &amp; Cryptographic Audit Replay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Enterprise Model Lifecycle and Lineage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Lifecycle State Machine: CANDIDATE -&gt; VALIDATION -&gt; CHALLENGER -&gt; PROMOTED_CHAMPION -&gt; RETIRED.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Drift Triggers: Population Stability Index (PSI) threshold 0.25; Conformal coverage drift threshold 5%.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Audit Replay Endpoint: GET /regime/audit/{date} returns exact feature values, opinions, and snapshot hashes.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Data &amp; Feature Provenance: SHA-256 c6c46ed7... (Market Data) and 61969b7b... (Feature Store).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17. Regime Arena: Interactive Quantitative Simulation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Gamified Historical Replay &amp; Training Simulator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Gamified Simulation: Quantitative analysts test regime calls under strict point-in-time information barriers.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Decision Flow: Observe market state -&gt; select regime call -&gt; set conviction -&gt; assign allocation tilt.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Real-Time Scoring: Evaluated across regime quality, calibration Brier score, and downside capital preservation.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Streamlit Research UI: 8 production pages spanning live monitoring, model lab, replay, and governance.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252F"/>
                </a:solidFill>
                <a:latin typeface="Arial"/>
              </a:defRPr>
            </a:pPr>
            <a:r>
              <a:t>18. Summary of Contributions &amp; Production Roadmap</a:t>
            </a:r>
          </a:p>
          <a:p>
            <a:pPr>
              <a:defRPr sz="1300">
                <a:solidFill>
                  <a:srgbClr val="2980B9"/>
                </a:solidFill>
                <a:latin typeface="Arial"/>
              </a:defRPr>
            </a:pPr>
            <a:r>
              <a:t>Institutional Readiness and Next-Generation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Contributions: Solved target circularity, established 7-model lab, proved 91.3% conformal coverage.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Infrastructure: Production FastAPI service (&lt; 5 ms online filtering) and verified Streamlit platform.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Next Steps: Integration of live NSE broadcast tick feeds, tick-level order book depth, and enterprise HSM.</a:t>
            </a:r>
          </a:p>
          <a:p>
            <a:pPr>
              <a:spcAft>
                <a:spcPts val="1400"/>
              </a:spcAft>
              <a:defRPr sz="1400">
                <a:solidFill>
                  <a:srgbClr val="2C3E50"/>
                </a:solidFill>
                <a:latin typeface="Calibri"/>
              </a:defRPr>
            </a:pPr>
            <a:r>
              <a:t>•  Corporate Verification: Zetheta Algorithms Private Limited | CIN: U62012MH2023PTC410415.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7F8C8D"/>
                </a:solidFill>
                <a:latin typeface="Calibri"/>
              </a:defRPr>
            </a:pPr>
            <a:r>
              <a:t>Zetheta Algorithms Private Limited | CIN: U62012MH2023PTC410415 | Strictly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